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274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288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MobileNetV2</c:v>
                </c:pt>
                <c:pt idx="1">
                  <c:v>InceptionV3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95.03</c:v>
                </c:pt>
                <c:pt idx="1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65-4484-B31B-E15D4D5B85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MobileNetV2</c:v>
                </c:pt>
                <c:pt idx="1">
                  <c:v>InceptionV3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95.53</c:v>
                </c:pt>
                <c:pt idx="1">
                  <c:v>98.23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65-4484-B31B-E15D4D5B85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7B1FA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MobileNetV2</c:v>
                </c:pt>
                <c:pt idx="1">
                  <c:v>InceptionV3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95.03</c:v>
                </c:pt>
                <c:pt idx="1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65-4484-B31B-E15D4D5B85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MobileNetV2</c:v>
                </c:pt>
                <c:pt idx="1">
                  <c:v>InceptionV3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95.03</c:v>
                </c:pt>
                <c:pt idx="1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65-4484-B31B-E15D4D5B85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2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20040" y="1371600"/>
            <a:ext cx="109728" cy="2606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160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CN7023 – Artificial Intelligence &amp; Machine Vision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87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Variety Classification Using MobileNetV2 and InceptionV3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5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</a:t>
            </a:r>
            <a:r>
              <a:rPr lang="en-US" sz="15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Abhinashree</a:t>
            </a:r>
            <a:r>
              <a:rPr lang="en-US" sz="15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5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vinitha.shree9923@gmail.com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186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Rice Image Dataset (Koklu et al., 2021)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 Link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kaggle.com/datasets/muratkokludataset/rice-image-dataset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 Size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~500 MB  |  75,000 total images across 5 classes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Subset Used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600 images per class sampled randomly (3,000 images total) — Rice_Balanced_600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Image Dimensions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Resized to 224 × 224 pixels (RGB)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Number of Classes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  —  Arborio, Basmati, Ipsala, Jasmine, Karacadag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Train / Val Split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 Training  |  20% Validation  (validation_split = 0.2)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CC0 Public Domain. Images captured against a black background under controlled lighting.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Pre-processing &amp; Encoding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65760" y="1014984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9601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Sampling: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images per class randomly selected using random.shuffle() and shutil.copy(), creating a balanced 3,000-image working dataset.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65760" y="1709928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55064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 × 224 pixels via ImageDataGenerator (target_size=(224,224)) to match MobileNetV2 and InceptionV3 input requirements.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404872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3500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rescaled from [0, 255] to [0, 1] using rescale=1./255 in ImageDataGenerator.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3099816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0449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(training only):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rotation_range=25, zoom_range=0.2, width_shift=0.1, height_shift=0.1, shear_range=0.1, horizontal_flip=True, fill_mode='nearest'.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5760" y="3794760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73989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class_mode='categorical' — Keras auto-encodes class folders as one-hot vectors: Arborio→0, Basmati→1, Ipsala→2, Jasmine→3, Karacadag→4.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5760" y="4489704"/>
            <a:ext cx="64008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4348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Generator: </a:t>
            </a: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test ImageDataGenerator with only rescaling (no augmentation) and shuffle=False for reliable evaluation.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Architecture &amp; Learning Algorithm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416052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353312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MobileNetV2(input_shape=(224,224,3),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include_top=False, weights='imagenet')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base_model,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GlobalAveragePooling2D(),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BatchNormalization(),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Dense(128, activation='relu'),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Dropout(0.5),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Dense(5, activation='softmax')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InceptionV3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16052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353312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InceptionV3(input_shape=(224,224,3),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include_top=False, weights='imagenet')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base_model,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GlobalAveragePooling2D(),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BatchNormalization(),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Dense(256, activation='relu'),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Dropout(0.5),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Dense(5, activation='softmax')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023360"/>
            <a:ext cx="8549640" cy="292608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023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config: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optimizer='adam'  |  loss='categorical_crossentropy'  |  metrics=['accuracy']  |  epochs=10  |  batch_size=32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4.1: Both models use ImageNet pre-trained weights with frozen base layers and a custom classification head for 5 rice classes.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Training Options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65760" y="914400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14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Adam (default lr=0.001, beta_1=0.9, beta_2=0.999)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Categorical Cross-Entropy (class_mode='categorical')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609344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093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Accuracy (training + validation monitored each epoch)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956816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5681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10 for both MobileNetV2 and InceptionV3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304288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3042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32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651760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6517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224 × 224 × 3 (RGB)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999232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80% training  /  20% validation (validation_split=0.2)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346704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3467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 Strategy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base_model.trainable = False  — full feature extraction, no fine-tuning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694176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941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(MobileNetV2)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GlobalAveragePooling2D → BatchNorm → Dense(128, ReLU) → Dropout(0.5) → Dense(5, Softmax)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04164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0416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(InceptionV3)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GlobalAveragePooling2D → BatchNorm → Dense(256, ReLU) → Dropout(0.5) → Dense(5, Softmax)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4389120"/>
            <a:ext cx="84124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389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rotation=25, zoom=0.2, width/height shift=0.1, shear=0.1, horizontal_flip=True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7365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 600 images per class — perfectly balanced, no class weighting required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65760" y="777240"/>
            <a:ext cx="1920240" cy="9601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77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95.03%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325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MobileNetV2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777240"/>
            <a:ext cx="192024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14600" y="777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98.20%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514600" y="1325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InceptionV3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777240"/>
            <a:ext cx="1920240" cy="9601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777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0.9820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63440" y="1325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InceptionV3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12280" y="777240"/>
            <a:ext cx="192024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777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812280" y="1325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MobileNetV2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F1-Score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1874520"/>
          <a:ext cx="8412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641080" cy="19019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MobileNetV2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95.03%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95.53%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95.03%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95.03%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Lighter, faster, Dense(128)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InceptionV3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98.20%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98.23%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98.20%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98.20%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Best model, Dense(256) head 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Koklu et al. (2021)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 75K dataset, custom CNN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74320" y="3639312"/>
            <a:ext cx="64008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75488" y="363931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outperforms MobileNetV2 by 3.17 percentage points on this dataset — larger Dense head (256 vs 128 units) captures more class-specific features.</a:t>
            </a:r>
            <a:endParaRPr lang="en-US" sz="1100" dirty="0"/>
          </a:p>
        </p:txBody>
      </p:sp>
      <p:sp>
        <p:nvSpPr>
          <p:cNvPr id="4" name="Shape 4"/>
          <p:cNvSpPr/>
          <p:nvPr/>
        </p:nvSpPr>
        <p:spPr>
          <a:xfrm>
            <a:off x="274320" y="3986784"/>
            <a:ext cx="64008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398678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trains significantly faster due to its depthwise separable convolutions — suitable when inference speed is a priority.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334256"/>
            <a:ext cx="64008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43342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frozen base layers (trainable=False). Fine-tuning top layers would likely push InceptionV3 accuracy closer to the paper's 100%.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4681728"/>
            <a:ext cx="64008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46817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this experiment (600 images/class) and the paper (15,000/class) is expected — more data consistently improves deep learning accuracy.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MobileNetV2 — Per-Class Metrics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4114800" cy="25237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Arborio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Basmati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Ipsala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Jasmine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Karacadag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InceptionV3 — Per-Class Metrics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114800" cy="25237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Arborio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Basmati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Ipsala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Jasmine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Karacadag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4206240"/>
            <a:ext cx="8549640" cy="621792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411480" y="423367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Analysis: </a:t>
            </a: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ROC curves computed using label_binarize() + roc_curve() from sklearn. InceptionV3 achieves near-perfect AUC &gt; 0.99 across all 5 classes. MobileNetV2 shows AUC &gt; 0.97 for all classes. Basmati and Ipsala occasionally show slight confusion — their elongated grain shapes overlap in feature space.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Limitations, Future Work &amp; 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984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600 images/class used (3,000 total) vs 15,000/class in original paper — limits generalisability.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2128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layers fully frozen — no fine-tuning was performed, leaving accuracy gains on the table.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31272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3127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stopping or learning rate scheduling implemented in training loop.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0416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uses the same directory as training, so class overlap is possible without a dedicated held-out test folder.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18688" y="822960"/>
            <a:ext cx="27432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8688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18688" y="12984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full 75,000-image dataset and unfreeze top layers of both models for fine-tuning.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18688" y="22128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22128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EarlyStopping and ReduceLROnPlateau callbacks to improve training stability.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18688" y="31272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0" y="3127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 model (InceptionV3) as a Flask or Streamlit web app for real-time grain classification.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18688" y="40416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Grad-CAM visualisations to understand which grain features each model focuses 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63056" y="822960"/>
            <a:ext cx="27432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63056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63056" y="12984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27648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(98.20% accuracy) outperforms MobileNetV2 (95.03%) on the balanced 3,000-image subset.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63056" y="22128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22128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transfer learning models significantly outperform training from scratch on a small dataset.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63056" y="31272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27648" y="3127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ImageDataGenerator with augmentation effectively reduces overfitting even with only 600 images/class.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163056" y="4041648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27648" y="4041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production-ready and extensible — adding more classes or data requires minimal code changes.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provided in Harvard style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Koklu, M., Cinar, I. and Taspinar, Y.S. (2021) 'Classification of rice varieties with deep learning methods', Computers and Electronics in Agriculture, 187, p. 106285. doi: 10.1016/j.compag.2021.106285.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709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Sandler, M., Howard, A., Zhu, M., Zhmoginov, A. and Chen, L.C. (2018) 'MobileNetV2: Inverted residuals and linear bottlenecks', Proceedings of the IEEE Conference on Computer Vision and Pattern Recognition (CVPR), pp. 4510–4520.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2322576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Szegedy, C., Vanhoucke, V., Ioffe, S., Shlens, J. and Wojna, Z. (2016) 'Rethinking the inception architecture for computer vision', Proceedings of the IEEE Conference on Computer Vision and Pattern Recognition (CVPR), pp. 2818–2826.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293522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Chollet, F. et al. (2015) Keras. Available at: https://keras.io (Accessed: 27 April 2026).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Abadi, M. et al. (2016) 'TensorFlow: A system for large-scale machine learning', 12th USENIX Symposium on Operating Systems Design and Implementation, pp. 265–283.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 'Scikit-learn: Machine learning in Python', Journal of Machine Learning Research, 12, pp. 2825–2830.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09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In-text: (Koklu, Cinar and Taspinar, 2021)  |  Three or more authors: (Koklu et al., 2021)  |  Harvard referencing style throughout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1330</Words>
  <Application>Microsoft Office PowerPoint</Application>
  <PresentationFormat>On-screen Show (16:9)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</cp:lastModifiedBy>
  <cp:revision>2</cp:revision>
  <dcterms:created xsi:type="dcterms:W3CDTF">2026-05-02T08:55:30Z</dcterms:created>
  <dcterms:modified xsi:type="dcterms:W3CDTF">2026-05-02T09:15:43Z</dcterms:modified>
</cp:coreProperties>
</file>